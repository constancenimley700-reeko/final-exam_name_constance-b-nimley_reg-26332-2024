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E6F104-080C-40B3-8E95-BDD9D6EC396D}" v="643" dt="2026-07-15T01:45:59.9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dirty="0"/>
              <a:t>Click to edit Master title style</a:t>
            </a:r>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6125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91040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dirty="0"/>
              <a:t>Click to edit Master title style</a:t>
            </a:r>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65748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51790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83609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8017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35462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dirty="0"/>
              <a:t>Click to edit Master title style</a:t>
            </a:r>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22620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dirty="0"/>
              <a:t>Click to edit Master title style</a:t>
            </a:r>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50671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46374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757663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03104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55493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1953937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0311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174504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28354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7/14/2026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4647427"/>
      </p:ext>
    </p:extLst>
  </p:cSld>
  <p:clrMap bg1="dk1" tx1="lt1" bg2="dk2" tx2="lt2" accent1="accent1" accent2="accent2" accent3="accent3" accent4="accent4" accent5="accent5" accent6="accent6" hlink="hlink" folHlink="folHlink"/>
  <p:sldLayoutIdLst>
    <p:sldLayoutId id="2147483871" r:id="rId1"/>
    <p:sldLayoutId id="2147483872" r:id="rId2"/>
    <p:sldLayoutId id="214748387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 id="2147483882" r:id="rId12"/>
    <p:sldLayoutId id="2147483883" r:id="rId13"/>
    <p:sldLayoutId id="2147483884" r:id="rId14"/>
    <p:sldLayoutId id="2147483885" r:id="rId15"/>
    <p:sldLayoutId id="2147483886" r:id="rId16"/>
    <p:sldLayoutId id="214748388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Project </a:t>
            </a:r>
            <a:r>
              <a:rPr lang="en-US" b="1"/>
              <a:t>title: Smart</a:t>
            </a:r>
            <a:r>
              <a:rPr lang="en-US" b="1" dirty="0"/>
              <a:t> Coffee cooperative management system.</a:t>
            </a:r>
          </a:p>
        </p:txBody>
      </p:sp>
      <p:sp>
        <p:nvSpPr>
          <p:cNvPr id="3" name="Subtitle 2"/>
          <p:cNvSpPr>
            <a:spLocks noGrp="1"/>
          </p:cNvSpPr>
          <p:nvPr>
            <p:ph type="subTitle" idx="1"/>
          </p:nvPr>
        </p:nvSpPr>
        <p:spPr>
          <a:xfrm>
            <a:off x="1524000" y="3573010"/>
            <a:ext cx="9144000" cy="2570161"/>
          </a:xfrm>
        </p:spPr>
        <p:txBody>
          <a:bodyPr vert="horz" lIns="91440" tIns="45720" rIns="91440" bIns="45720" rtlCol="0" anchor="t">
            <a:normAutofit/>
          </a:bodyPr>
          <a:lstStyle/>
          <a:p>
            <a:r>
              <a:rPr lang="en-US" b="1" dirty="0">
                <a:ea typeface="+mn-lt"/>
                <a:cs typeface="+mn-lt"/>
              </a:rPr>
              <a:t>Course Code &amp; Name:</a:t>
            </a:r>
            <a:r>
              <a:rPr lang="en-US">
                <a:ea typeface="+mn-lt"/>
                <a:cs typeface="+mn-lt"/>
              </a:rPr>
              <a:t> DPR400210 - Database Programming.</a:t>
            </a:r>
            <a:endParaRPr lang="en-US"/>
          </a:p>
          <a:p>
            <a:r>
              <a:rPr lang="en-US" b="1" dirty="0">
                <a:ea typeface="+mn-lt"/>
                <a:cs typeface="+mn-lt"/>
              </a:rPr>
              <a:t>Student Details:</a:t>
            </a:r>
            <a:r>
              <a:rPr lang="en-US" dirty="0">
                <a:ea typeface="+mn-lt"/>
                <a:cs typeface="+mn-lt"/>
              </a:rPr>
              <a:t> Name: Constance B Nimley </a:t>
            </a:r>
            <a:r>
              <a:rPr lang="en-US">
                <a:ea typeface="+mn-lt"/>
                <a:cs typeface="+mn-lt"/>
              </a:rPr>
              <a:t>/Reg#:26332/2024]                        </a:t>
            </a:r>
            <a:endParaRPr lang="en-US"/>
          </a:p>
          <a:p>
            <a:r>
              <a:rPr lang="en-US">
                <a:ea typeface="+mn-lt"/>
                <a:cs typeface="+mn-lt"/>
              </a:rPr>
              <a:t>University of Lay Adventists of Kigali (UNILAK)                                  </a:t>
            </a:r>
            <a:endParaRPr lang="en-US"/>
          </a:p>
          <a:p>
            <a:r>
              <a:rPr lang="en-US" b="1">
                <a:ea typeface="+mn-lt"/>
                <a:cs typeface="+mn-lt"/>
              </a:rPr>
              <a:t>Presentation Date:</a:t>
            </a:r>
            <a:r>
              <a:rPr lang="en-US">
                <a:ea typeface="+mn-lt"/>
                <a:cs typeface="+mn-lt"/>
              </a:rPr>
              <a:t> July 15, 2026                                                              </a:t>
            </a:r>
            <a:endParaRPr lang="en-US"/>
          </a:p>
        </p:txBody>
      </p:sp>
    </p:spTree>
    <p:extLst>
      <p:ext uri="{BB962C8B-B14F-4D97-AF65-F5344CB8AC3E}">
        <p14:creationId xmlns:p14="http://schemas.microsoft.com/office/powerpoint/2010/main" val="10985722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5F463-57AB-06D9-2CE7-6D2CB8F749A6}"/>
              </a:ext>
            </a:extLst>
          </p:cNvPr>
          <p:cNvSpPr>
            <a:spLocks noGrp="1"/>
          </p:cNvSpPr>
          <p:nvPr>
            <p:ph type="title"/>
          </p:nvPr>
        </p:nvSpPr>
        <p:spPr>
          <a:xfrm>
            <a:off x="1119641" y="510417"/>
            <a:ext cx="8534400" cy="1507067"/>
          </a:xfrm>
        </p:spPr>
        <p:txBody>
          <a:bodyPr>
            <a:normAutofit/>
          </a:bodyPr>
          <a:lstStyle/>
          <a:p>
            <a:r>
              <a:rPr lang="en-US" sz="2700" b="1" i="1">
                <a:latin typeface="Times New Roman"/>
                <a:cs typeface="Times New Roman"/>
              </a:rPr>
              <a:t>Problem Definition &amp; Context of Use.</a:t>
            </a:r>
            <a:endParaRPr lang="en-US"/>
          </a:p>
        </p:txBody>
      </p:sp>
      <p:sp>
        <p:nvSpPr>
          <p:cNvPr id="3" name="Content Placeholder 2">
            <a:extLst>
              <a:ext uri="{FF2B5EF4-FFF2-40B4-BE49-F238E27FC236}">
                <a16:creationId xmlns:a16="http://schemas.microsoft.com/office/drawing/2014/main" id="{5C522CB6-8B29-0B54-554A-2C2F2BA916DB}"/>
              </a:ext>
            </a:extLst>
          </p:cNvPr>
          <p:cNvSpPr>
            <a:spLocks noGrp="1"/>
          </p:cNvSpPr>
          <p:nvPr>
            <p:ph idx="1"/>
          </p:nvPr>
        </p:nvSpPr>
        <p:spPr>
          <a:xfrm>
            <a:off x="1119641" y="2021115"/>
            <a:ext cx="8534400" cy="4340980"/>
          </a:xfrm>
        </p:spPr>
        <p:txBody>
          <a:bodyPr>
            <a:normAutofit fontScale="85000" lnSpcReduction="10000"/>
          </a:bodyPr>
          <a:lstStyle/>
          <a:p>
            <a:endParaRPr lang="en-US" sz="3200" b="1" i="1" dirty="0">
              <a:latin typeface="Times New Roman"/>
              <a:cs typeface="Times New Roman"/>
            </a:endParaRPr>
          </a:p>
          <a:p>
            <a:pPr>
              <a:buClr>
                <a:srgbClr val="FFFFFF"/>
              </a:buClr>
            </a:pPr>
            <a:r>
              <a:rPr lang="en-US" sz="2400" b="1">
                <a:latin typeface="Times New Roman"/>
                <a:ea typeface="+mn-lt"/>
                <a:cs typeface="Times New Roman"/>
              </a:rPr>
              <a:t>In Rwanda, coffee production is a major economic driver. However, agricultural cooperatives face severe challenges in tracking coffee cherry deliveries from smallholder farmers, managing warehouse processing (sorting, drying, washing), monitoring inventory levels, and maintaining transparent payments. Manual record-keeping leads to:</a:t>
            </a:r>
          </a:p>
          <a:p>
            <a:pPr>
              <a:buClr>
                <a:srgbClr val="FFFFFF"/>
              </a:buClr>
            </a:pPr>
            <a:endParaRPr lang="en-US" sz="2400" b="1" dirty="0">
              <a:latin typeface="Times New Roman"/>
              <a:ea typeface="+mn-lt"/>
              <a:cs typeface="Times New Roman"/>
            </a:endParaRPr>
          </a:p>
          <a:p>
            <a:pPr marL="0" indent="0">
              <a:buNone/>
            </a:pPr>
            <a:r>
              <a:rPr lang="en-US" sz="2400">
                <a:ea typeface="+mn-lt"/>
                <a:cs typeface="+mn-lt"/>
              </a:rPr>
              <a:t>*Data entry errors.</a:t>
            </a:r>
            <a:endParaRPr lang="en-US" sz="2400" b="1" dirty="0">
              <a:latin typeface="Times New Roman"/>
              <a:cs typeface="Times New Roman"/>
            </a:endParaRPr>
          </a:p>
          <a:p>
            <a:pPr marL="0" indent="0">
              <a:buClr>
                <a:srgbClr val="FFFFFF"/>
              </a:buClr>
              <a:buNone/>
            </a:pPr>
            <a:r>
              <a:rPr lang="en-US" sz="2400">
                <a:ea typeface="+mn-lt"/>
                <a:cs typeface="+mn-lt"/>
              </a:rPr>
              <a:t>*Delayed payments to farmers.</a:t>
            </a:r>
            <a:endParaRPr lang="en-US"/>
          </a:p>
          <a:p>
            <a:pPr marL="0" indent="0">
              <a:buClr>
                <a:srgbClr val="FFFFFF"/>
              </a:buClr>
              <a:buNone/>
            </a:pPr>
            <a:r>
              <a:rPr lang="en-US" sz="2400">
                <a:ea typeface="+mn-lt"/>
                <a:cs typeface="+mn-lt"/>
              </a:rPr>
              <a:t>*Lack of real-time inventory tracking (parchment vs. green coffee).</a:t>
            </a:r>
            <a:endParaRPr lang="en-US"/>
          </a:p>
          <a:p>
            <a:pPr marL="0" indent="0">
              <a:buClr>
                <a:srgbClr val="FFFFFF"/>
              </a:buClr>
              <a:buNone/>
            </a:pPr>
            <a:r>
              <a:rPr lang="en-US" sz="2400">
                <a:ea typeface="+mn-lt"/>
                <a:cs typeface="+mn-lt"/>
              </a:rPr>
              <a:t>*Lack of an audit trail to prevent fraud.</a:t>
            </a:r>
            <a:endParaRPr lang="en-US"/>
          </a:p>
          <a:p>
            <a:pPr>
              <a:buClr>
                <a:srgbClr val="FFFFFF"/>
              </a:buClr>
            </a:pPr>
            <a:endParaRPr lang="en-US" sz="2400" b="1" dirty="0">
              <a:latin typeface="Times New Roman"/>
              <a:cs typeface="Times New Roman"/>
            </a:endParaRPr>
          </a:p>
          <a:p>
            <a:pPr>
              <a:buClr>
                <a:srgbClr val="FFFFFF"/>
              </a:buClr>
            </a:pPr>
            <a:endParaRPr lang="en-US" dirty="0"/>
          </a:p>
        </p:txBody>
      </p:sp>
      <p:sp>
        <p:nvSpPr>
          <p:cNvPr id="4" name="Date Placeholder 3">
            <a:extLst>
              <a:ext uri="{FF2B5EF4-FFF2-40B4-BE49-F238E27FC236}">
                <a16:creationId xmlns:a16="http://schemas.microsoft.com/office/drawing/2014/main" id="{0E0C5FFE-15BE-1D0F-A0B1-07AE47CAF30A}"/>
              </a:ext>
            </a:extLst>
          </p:cNvPr>
          <p:cNvSpPr>
            <a:spLocks noGrp="1"/>
          </p:cNvSpPr>
          <p:nvPr>
            <p:ph type="dt" sz="half" idx="10"/>
          </p:nvPr>
        </p:nvSpPr>
        <p:spPr/>
        <p:txBody>
          <a:bodyPr/>
          <a:lstStyle/>
          <a:p>
            <a:fld id="{727BE373-E3D5-4F95-BCF9-3C66A73EDB73}" type="datetime1">
              <a:t>7/14/2026</a:t>
            </a:fld>
            <a:endParaRPr lang="en-US" dirty="0"/>
          </a:p>
        </p:txBody>
      </p:sp>
      <p:sp>
        <p:nvSpPr>
          <p:cNvPr id="5" name="Footer Placeholder 4">
            <a:extLst>
              <a:ext uri="{FF2B5EF4-FFF2-40B4-BE49-F238E27FC236}">
                <a16:creationId xmlns:a16="http://schemas.microsoft.com/office/drawing/2014/main" id="{CA16CED7-CA33-255A-A6FA-775752B47A7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FF7AFF7-5A7C-3C44-B517-204728ACA79F}"/>
              </a:ext>
            </a:extLst>
          </p:cNvPr>
          <p:cNvSpPr>
            <a:spLocks noGrp="1"/>
          </p:cNvSpPr>
          <p:nvPr>
            <p:ph type="sldNum" sz="quarter" idx="12"/>
          </p:nvPr>
        </p:nvSpPr>
        <p:spPr/>
        <p:txBody>
          <a:bodyPr/>
          <a:lstStyle/>
          <a:p>
            <a:fld id="{E30AF5A0-43BB-4336-8627-9123B9144D80}" type="slidenum">
              <a:rPr lang="en-US" dirty="0"/>
              <a:t>2</a:t>
            </a:fld>
            <a:endParaRPr lang="en-US" dirty="0"/>
          </a:p>
        </p:txBody>
      </p:sp>
    </p:spTree>
    <p:extLst>
      <p:ext uri="{BB962C8B-B14F-4D97-AF65-F5344CB8AC3E}">
        <p14:creationId xmlns:p14="http://schemas.microsoft.com/office/powerpoint/2010/main" val="214844396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9AC97-4284-B307-6E5C-D98B1C47669F}"/>
              </a:ext>
            </a:extLst>
          </p:cNvPr>
          <p:cNvSpPr>
            <a:spLocks noGrp="1"/>
          </p:cNvSpPr>
          <p:nvPr>
            <p:ph type="title"/>
          </p:nvPr>
        </p:nvSpPr>
        <p:spPr>
          <a:xfrm>
            <a:off x="901926" y="960361"/>
            <a:ext cx="8534400" cy="1507067"/>
          </a:xfrm>
        </p:spPr>
        <p:txBody>
          <a:bodyPr>
            <a:normAutofit/>
          </a:bodyPr>
          <a:lstStyle/>
          <a:p>
            <a:r>
              <a:rPr lang="en-US">
                <a:ea typeface="+mj-lt"/>
                <a:cs typeface="+mj-lt"/>
              </a:rPr>
              <a:t>Target Users:</a:t>
            </a:r>
            <a:endParaRPr lang="en-US"/>
          </a:p>
        </p:txBody>
      </p:sp>
      <p:sp>
        <p:nvSpPr>
          <p:cNvPr id="3" name="Content Placeholder 2">
            <a:extLst>
              <a:ext uri="{FF2B5EF4-FFF2-40B4-BE49-F238E27FC236}">
                <a16:creationId xmlns:a16="http://schemas.microsoft.com/office/drawing/2014/main" id="{E847726C-EFB1-0592-789B-2629C7AC087A}"/>
              </a:ext>
            </a:extLst>
          </p:cNvPr>
          <p:cNvSpPr>
            <a:spLocks noGrp="1"/>
          </p:cNvSpPr>
          <p:nvPr>
            <p:ph idx="1"/>
          </p:nvPr>
        </p:nvSpPr>
        <p:spPr>
          <a:xfrm>
            <a:off x="901926" y="2442029"/>
            <a:ext cx="8534400" cy="3615267"/>
          </a:xfrm>
        </p:spPr>
        <p:txBody>
          <a:bodyPr/>
          <a:lstStyle/>
          <a:p>
            <a:r>
              <a:rPr lang="en-US" b="1">
                <a:ea typeface="+mn-lt"/>
                <a:cs typeface="+mn-lt"/>
              </a:rPr>
              <a:t>Cooperative Farmers:</a:t>
            </a:r>
            <a:r>
              <a:rPr lang="en-US">
                <a:ea typeface="+mn-lt"/>
                <a:cs typeface="+mn-lt"/>
              </a:rPr>
              <a:t> Deliver cherries and receive SMS/receipt confirmations.</a:t>
            </a:r>
            <a:endParaRPr lang="en-US" dirty="0">
              <a:ea typeface="+mn-lt"/>
              <a:cs typeface="+mn-lt"/>
            </a:endParaRPr>
          </a:p>
          <a:p>
            <a:pPr>
              <a:buClr>
                <a:srgbClr val="FFFFFF"/>
              </a:buClr>
            </a:pPr>
            <a:r>
              <a:rPr lang="en-US" b="1">
                <a:ea typeface="+mn-lt"/>
                <a:cs typeface="+mn-lt"/>
              </a:rPr>
              <a:t>Warehouse Managers:</a:t>
            </a:r>
            <a:r>
              <a:rPr lang="en-US">
                <a:ea typeface="+mn-lt"/>
                <a:cs typeface="+mn-lt"/>
              </a:rPr>
              <a:t> Manage inventory, wet mill processing, and shipping.</a:t>
            </a:r>
          </a:p>
          <a:p>
            <a:pPr>
              <a:buClr>
                <a:srgbClr val="FFFFFF"/>
              </a:buClr>
            </a:pPr>
            <a:r>
              <a:rPr lang="en-US" b="1">
                <a:ea typeface="+mn-lt"/>
                <a:cs typeface="+mn-lt"/>
              </a:rPr>
              <a:t>Financial Officers:</a:t>
            </a:r>
            <a:r>
              <a:rPr lang="en-US">
                <a:ea typeface="+mn-lt"/>
                <a:cs typeface="+mn-lt"/>
              </a:rPr>
              <a:t> Execute and approve farmer payouts.</a:t>
            </a:r>
          </a:p>
          <a:p>
            <a:pPr>
              <a:buClr>
                <a:srgbClr val="FFFFFF"/>
              </a:buClr>
            </a:pPr>
            <a:endParaRPr lang="en-US" dirty="0"/>
          </a:p>
        </p:txBody>
      </p:sp>
    </p:spTree>
    <p:extLst>
      <p:ext uri="{BB962C8B-B14F-4D97-AF65-F5344CB8AC3E}">
        <p14:creationId xmlns:p14="http://schemas.microsoft.com/office/powerpoint/2010/main" val="1173465803"/>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0155C-85D1-5A87-72E7-91897804EA26}"/>
              </a:ext>
            </a:extLst>
          </p:cNvPr>
          <p:cNvSpPr>
            <a:spLocks noGrp="1"/>
          </p:cNvSpPr>
          <p:nvPr>
            <p:ph type="title"/>
          </p:nvPr>
        </p:nvSpPr>
        <p:spPr>
          <a:xfrm>
            <a:off x="684212" y="205618"/>
            <a:ext cx="8534400" cy="1507067"/>
          </a:xfrm>
        </p:spPr>
        <p:txBody>
          <a:bodyPr/>
          <a:lstStyle/>
          <a:p>
            <a:r>
              <a:rPr lang="en-US">
                <a:ea typeface="+mj-lt"/>
                <a:cs typeface="+mj-lt"/>
              </a:rPr>
              <a:t>Project Objectives:</a:t>
            </a:r>
            <a:endParaRPr lang="en-US"/>
          </a:p>
        </p:txBody>
      </p:sp>
      <p:sp>
        <p:nvSpPr>
          <p:cNvPr id="3" name="Content Placeholder 2">
            <a:extLst>
              <a:ext uri="{FF2B5EF4-FFF2-40B4-BE49-F238E27FC236}">
                <a16:creationId xmlns:a16="http://schemas.microsoft.com/office/drawing/2014/main" id="{A343E630-5EA8-1FFD-9821-E1C724353E3D}"/>
              </a:ext>
            </a:extLst>
          </p:cNvPr>
          <p:cNvSpPr>
            <a:spLocks noGrp="1"/>
          </p:cNvSpPr>
          <p:nvPr>
            <p:ph idx="1"/>
          </p:nvPr>
        </p:nvSpPr>
        <p:spPr>
          <a:xfrm>
            <a:off x="1097869" y="2507343"/>
            <a:ext cx="8534400" cy="3615267"/>
          </a:xfrm>
        </p:spPr>
        <p:txBody>
          <a:bodyPr>
            <a:normAutofit fontScale="92500"/>
          </a:bodyPr>
          <a:lstStyle/>
          <a:p>
            <a:r>
              <a:rPr lang="en-US">
                <a:ea typeface="+mn-lt"/>
                <a:cs typeface="+mn-lt"/>
              </a:rPr>
              <a:t>Design a normalized, secure database schema (3NF) to handle members, deliveries, processing stages, and financial payouts.</a:t>
            </a:r>
          </a:p>
          <a:p>
            <a:pPr>
              <a:buClr>
                <a:srgbClr val="FFFFFF"/>
              </a:buClr>
            </a:pPr>
            <a:r>
              <a:rPr lang="en-US">
                <a:ea typeface="+mn-lt"/>
                <a:cs typeface="+mn-lt"/>
              </a:rPr>
              <a:t>Enforce critical business rules programmatically using Oracle PL/SQL.</a:t>
            </a:r>
          </a:p>
          <a:p>
            <a:pPr>
              <a:buClr>
                <a:srgbClr val="FFFFFF"/>
              </a:buClr>
            </a:pPr>
            <a:r>
              <a:rPr lang="en-US">
                <a:ea typeface="+mn-lt"/>
                <a:cs typeface="+mn-lt"/>
              </a:rPr>
              <a:t>Implement automated triggers for activity auditing and strict temporal operational restrictions.</a:t>
            </a:r>
          </a:p>
          <a:p>
            <a:pPr>
              <a:buClr>
                <a:srgbClr val="FFFFFF"/>
              </a:buClr>
            </a:pPr>
            <a:r>
              <a:rPr lang="en-US">
                <a:ea typeface="+mn-lt"/>
                <a:cs typeface="+mn-lt"/>
              </a:rPr>
              <a:t>Provide clear procedures and functions to streamline transactions and reporting.</a:t>
            </a:r>
          </a:p>
          <a:p>
            <a:pPr>
              <a:buClr>
                <a:srgbClr val="FFFFFF"/>
              </a:buClr>
            </a:pPr>
            <a:r>
              <a:rPr lang="en-US">
                <a:ea typeface="+mn-lt"/>
                <a:cs typeface="+mn-lt"/>
              </a:rPr>
              <a:t>Security &amp; Compliance: Implement operational window locks (blocking transactions on holidays/weekends) and record a complete audit log of financial adjustments.</a:t>
            </a:r>
            <a:endParaRPr lang="en-US" dirty="0">
              <a:ea typeface="+mn-lt"/>
              <a:cs typeface="+mn-lt"/>
            </a:endParaRPr>
          </a:p>
          <a:p>
            <a:pPr>
              <a:buClr>
                <a:srgbClr val="FFFFFF"/>
              </a:buClr>
            </a:pPr>
            <a:endParaRPr lang="en-US" dirty="0"/>
          </a:p>
        </p:txBody>
      </p:sp>
    </p:spTree>
    <p:extLst>
      <p:ext uri="{BB962C8B-B14F-4D97-AF65-F5344CB8AC3E}">
        <p14:creationId xmlns:p14="http://schemas.microsoft.com/office/powerpoint/2010/main" val="834237029"/>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C499B-6A42-4726-FFE6-D0DF7C3E53F1}"/>
              </a:ext>
            </a:extLst>
          </p:cNvPr>
          <p:cNvSpPr>
            <a:spLocks noGrp="1"/>
          </p:cNvSpPr>
          <p:nvPr>
            <p:ph type="title"/>
          </p:nvPr>
        </p:nvSpPr>
        <p:spPr>
          <a:xfrm>
            <a:off x="742269" y="844246"/>
            <a:ext cx="9485085" cy="1507067"/>
          </a:xfrm>
        </p:spPr>
        <p:txBody>
          <a:bodyPr>
            <a:normAutofit/>
          </a:bodyPr>
          <a:lstStyle/>
          <a:p>
            <a:r>
              <a:rPr lang="en-US">
                <a:ea typeface="+mj-lt"/>
                <a:cs typeface="+mj-lt"/>
              </a:rPr>
              <a:t>Business Process Modeling (MIS):</a:t>
            </a:r>
            <a:endParaRPr lang="en-US"/>
          </a:p>
        </p:txBody>
      </p:sp>
      <p:sp>
        <p:nvSpPr>
          <p:cNvPr id="3" name="Content Placeholder 2">
            <a:extLst>
              <a:ext uri="{FF2B5EF4-FFF2-40B4-BE49-F238E27FC236}">
                <a16:creationId xmlns:a16="http://schemas.microsoft.com/office/drawing/2014/main" id="{8301A778-3FF8-94CB-2B1B-DD94DBE1CB91}"/>
              </a:ext>
            </a:extLst>
          </p:cNvPr>
          <p:cNvSpPr>
            <a:spLocks noGrp="1"/>
          </p:cNvSpPr>
          <p:nvPr>
            <p:ph idx="1"/>
          </p:nvPr>
        </p:nvSpPr>
        <p:spPr>
          <a:xfrm>
            <a:off x="909184" y="1716314"/>
            <a:ext cx="9151257" cy="3615267"/>
          </a:xfrm>
        </p:spPr>
        <p:txBody>
          <a:bodyPr/>
          <a:lstStyle/>
          <a:p>
            <a:r>
              <a:rPr lang="en-US">
                <a:ea typeface="+mn-lt"/>
                <a:cs typeface="+mn-lt"/>
              </a:rPr>
              <a:t>The physical workflow covers three primary stakeholders:</a:t>
            </a:r>
          </a:p>
          <a:p>
            <a:pPr>
              <a:buClr>
                <a:srgbClr val="FFFFFF"/>
              </a:buClr>
            </a:pPr>
            <a:r>
              <a:rPr lang="en-US">
                <a:ea typeface="+mn-lt"/>
                <a:cs typeface="+mn-lt"/>
              </a:rPr>
              <a:t>Farmer: Delivers fresh coffee cherries at the cooperative gate.</a:t>
            </a:r>
          </a:p>
          <a:p>
            <a:pPr>
              <a:buClr>
                <a:srgbClr val="FFFFFF"/>
              </a:buClr>
            </a:pPr>
            <a:r>
              <a:rPr lang="en-US">
                <a:ea typeface="+mn-lt"/>
                <a:cs typeface="+mn-lt"/>
              </a:rPr>
              <a:t>Warehouse Clerk: Weights the cherries, assigns quality grades, and registers the batch.</a:t>
            </a:r>
          </a:p>
          <a:p>
            <a:pPr>
              <a:buClr>
                <a:srgbClr val="FFFFFF"/>
              </a:buClr>
            </a:pPr>
            <a:r>
              <a:rPr lang="en-US">
                <a:ea typeface="+mn-lt"/>
                <a:cs typeface="+mn-lt"/>
              </a:rPr>
              <a:t>Finance Officer: Approves and processes calculated payments.</a:t>
            </a:r>
          </a:p>
          <a:p>
            <a:pPr>
              <a:buClr>
                <a:srgbClr val="FFFFFF"/>
              </a:buClr>
            </a:pPr>
            <a:r>
              <a:rPr lang="en-US">
                <a:ea typeface="+mn-lt"/>
                <a:cs typeface="+mn-lt"/>
              </a:rPr>
              <a:t>The Smart Coffee Cooperative Database System covers the lifecycle of coffee from the physical point of delivery up to the final financial approval. It spans three functional departments within the cooperative</a:t>
            </a:r>
            <a:endParaRPr lang="en-US" dirty="0">
              <a:ea typeface="+mn-lt"/>
              <a:cs typeface="+mn-lt"/>
            </a:endParaRPr>
          </a:p>
        </p:txBody>
      </p:sp>
    </p:spTree>
    <p:extLst>
      <p:ext uri="{BB962C8B-B14F-4D97-AF65-F5344CB8AC3E}">
        <p14:creationId xmlns:p14="http://schemas.microsoft.com/office/powerpoint/2010/main" val="27247035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A4E6-EF11-3B74-2C05-B996DA7EE242}"/>
              </a:ext>
            </a:extLst>
          </p:cNvPr>
          <p:cNvSpPr>
            <a:spLocks noGrp="1"/>
          </p:cNvSpPr>
          <p:nvPr>
            <p:ph type="title"/>
          </p:nvPr>
        </p:nvSpPr>
        <p:spPr>
          <a:xfrm>
            <a:off x="1076098" y="205618"/>
            <a:ext cx="8534400" cy="1507067"/>
          </a:xfrm>
        </p:spPr>
        <p:txBody>
          <a:bodyPr>
            <a:normAutofit/>
          </a:bodyPr>
          <a:lstStyle/>
          <a:p>
            <a:r>
              <a:rPr lang="en-US">
                <a:ea typeface="+mj-lt"/>
                <a:cs typeface="+mj-lt"/>
              </a:rPr>
              <a:t>Table creation:</a:t>
            </a:r>
            <a:br>
              <a:rPr lang="en-US" dirty="0">
                <a:ea typeface="+mj-lt"/>
                <a:cs typeface="+mj-lt"/>
              </a:rPr>
            </a:br>
            <a:r>
              <a:rPr lang="en-US"/>
              <a:t>FARMER TABLE</a:t>
            </a:r>
          </a:p>
        </p:txBody>
      </p:sp>
      <p:pic>
        <p:nvPicPr>
          <p:cNvPr id="4" name="Content Placeholder 3">
            <a:extLst>
              <a:ext uri="{FF2B5EF4-FFF2-40B4-BE49-F238E27FC236}">
                <a16:creationId xmlns:a16="http://schemas.microsoft.com/office/drawing/2014/main" id="{0B57AB6D-2978-A8AC-6B87-CD13AC0C4147}"/>
              </a:ext>
            </a:extLst>
          </p:cNvPr>
          <p:cNvPicPr>
            <a:picLocks noGrp="1" noChangeAspect="1"/>
          </p:cNvPicPr>
          <p:nvPr>
            <p:ph idx="1"/>
          </p:nvPr>
        </p:nvPicPr>
        <p:blipFill>
          <a:blip r:embed="rId2"/>
          <a:stretch>
            <a:fillRect/>
          </a:stretch>
        </p:blipFill>
        <p:spPr>
          <a:xfrm>
            <a:off x="371929" y="1716315"/>
            <a:ext cx="11002279" cy="4812695"/>
          </a:xfrm>
          <a:prstGeom prst="rect">
            <a:avLst/>
          </a:prstGeom>
        </p:spPr>
      </p:pic>
    </p:spTree>
    <p:extLst>
      <p:ext uri="{BB962C8B-B14F-4D97-AF65-F5344CB8AC3E}">
        <p14:creationId xmlns:p14="http://schemas.microsoft.com/office/powerpoint/2010/main" val="3087808673"/>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C33D0-097C-91B1-6A04-DFD36FD8B2F2}"/>
              </a:ext>
            </a:extLst>
          </p:cNvPr>
          <p:cNvSpPr>
            <a:spLocks noGrp="1"/>
          </p:cNvSpPr>
          <p:nvPr>
            <p:ph type="title"/>
          </p:nvPr>
        </p:nvSpPr>
        <p:spPr>
          <a:xfrm>
            <a:off x="684212" y="408818"/>
            <a:ext cx="8534400" cy="1507067"/>
          </a:xfrm>
        </p:spPr>
        <p:txBody>
          <a:bodyPr/>
          <a:lstStyle/>
          <a:p>
            <a:r>
              <a:rPr lang="en-US"/>
              <a:t>BATCHES TABLE</a:t>
            </a:r>
          </a:p>
        </p:txBody>
      </p:sp>
      <p:pic>
        <p:nvPicPr>
          <p:cNvPr id="4" name="Content Placeholder 3">
            <a:extLst>
              <a:ext uri="{FF2B5EF4-FFF2-40B4-BE49-F238E27FC236}">
                <a16:creationId xmlns:a16="http://schemas.microsoft.com/office/drawing/2014/main" id="{C6EF4C28-7F8D-BFAA-5BBF-7E9E81951E47}"/>
              </a:ext>
            </a:extLst>
          </p:cNvPr>
          <p:cNvPicPr>
            <a:picLocks noGrp="1" noChangeAspect="1"/>
          </p:cNvPicPr>
          <p:nvPr>
            <p:ph idx="1"/>
          </p:nvPr>
        </p:nvPicPr>
        <p:blipFill>
          <a:blip r:embed="rId2"/>
          <a:stretch>
            <a:fillRect/>
          </a:stretch>
        </p:blipFill>
        <p:spPr>
          <a:xfrm>
            <a:off x="662215" y="1680028"/>
            <a:ext cx="10799079" cy="5095723"/>
          </a:xfrm>
          <a:prstGeom prst="rect">
            <a:avLst/>
          </a:prstGeom>
        </p:spPr>
      </p:pic>
    </p:spTree>
    <p:extLst>
      <p:ext uri="{BB962C8B-B14F-4D97-AF65-F5344CB8AC3E}">
        <p14:creationId xmlns:p14="http://schemas.microsoft.com/office/powerpoint/2010/main" val="1679211946"/>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43375-6656-66A7-5A04-59D80F9382DF}"/>
              </a:ext>
            </a:extLst>
          </p:cNvPr>
          <p:cNvSpPr>
            <a:spLocks noGrp="1"/>
          </p:cNvSpPr>
          <p:nvPr>
            <p:ph type="title"/>
          </p:nvPr>
        </p:nvSpPr>
        <p:spPr>
          <a:xfrm>
            <a:off x="684212" y="205618"/>
            <a:ext cx="8534400" cy="1507067"/>
          </a:xfrm>
        </p:spPr>
        <p:txBody>
          <a:bodyPr/>
          <a:lstStyle/>
          <a:p>
            <a:r>
              <a:rPr lang="en-US"/>
              <a:t>PUBLIC_HOLIDAY TABLE</a:t>
            </a:r>
          </a:p>
        </p:txBody>
      </p:sp>
      <p:pic>
        <p:nvPicPr>
          <p:cNvPr id="4" name="Content Placeholder 3">
            <a:extLst>
              <a:ext uri="{FF2B5EF4-FFF2-40B4-BE49-F238E27FC236}">
                <a16:creationId xmlns:a16="http://schemas.microsoft.com/office/drawing/2014/main" id="{F1E5AF2F-47C9-FDA6-70CD-3D53582445F8}"/>
              </a:ext>
            </a:extLst>
          </p:cNvPr>
          <p:cNvPicPr>
            <a:picLocks noGrp="1" noChangeAspect="1"/>
          </p:cNvPicPr>
          <p:nvPr>
            <p:ph idx="1"/>
          </p:nvPr>
        </p:nvPicPr>
        <p:blipFill>
          <a:blip r:embed="rId2"/>
          <a:stretch>
            <a:fillRect/>
          </a:stretch>
        </p:blipFill>
        <p:spPr>
          <a:xfrm>
            <a:off x="654958" y="1455057"/>
            <a:ext cx="10944222" cy="5110238"/>
          </a:xfrm>
          <a:prstGeom prst="rect">
            <a:avLst/>
          </a:prstGeom>
        </p:spPr>
      </p:pic>
    </p:spTree>
    <p:extLst>
      <p:ext uri="{BB962C8B-B14F-4D97-AF65-F5344CB8AC3E}">
        <p14:creationId xmlns:p14="http://schemas.microsoft.com/office/powerpoint/2010/main" val="28474774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A60BE-E9D0-97BE-D4DF-EE84B9390135}"/>
              </a:ext>
            </a:extLst>
          </p:cNvPr>
          <p:cNvSpPr>
            <a:spLocks noGrp="1"/>
          </p:cNvSpPr>
          <p:nvPr>
            <p:ph type="title"/>
          </p:nvPr>
        </p:nvSpPr>
        <p:spPr>
          <a:xfrm>
            <a:off x="793069" y="423332"/>
            <a:ext cx="8534400" cy="1507067"/>
          </a:xfrm>
        </p:spPr>
        <p:txBody>
          <a:bodyPr/>
          <a:lstStyle/>
          <a:p>
            <a:r>
              <a:rPr lang="en-US"/>
              <a:t>Deliveries table</a:t>
            </a:r>
          </a:p>
        </p:txBody>
      </p:sp>
      <p:pic>
        <p:nvPicPr>
          <p:cNvPr id="4" name="Content Placeholder 3">
            <a:extLst>
              <a:ext uri="{FF2B5EF4-FFF2-40B4-BE49-F238E27FC236}">
                <a16:creationId xmlns:a16="http://schemas.microsoft.com/office/drawing/2014/main" id="{288A0209-13DA-B390-1517-BB3A6832FA46}"/>
              </a:ext>
            </a:extLst>
          </p:cNvPr>
          <p:cNvPicPr>
            <a:picLocks noGrp="1" noChangeAspect="1"/>
          </p:cNvPicPr>
          <p:nvPr>
            <p:ph idx="1"/>
          </p:nvPr>
        </p:nvPicPr>
        <p:blipFill>
          <a:blip r:embed="rId2"/>
          <a:stretch>
            <a:fillRect/>
          </a:stretch>
        </p:blipFill>
        <p:spPr>
          <a:xfrm>
            <a:off x="241301" y="1592944"/>
            <a:ext cx="11045822" cy="4936066"/>
          </a:xfrm>
          <a:prstGeom prst="rect">
            <a:avLst/>
          </a:prstGeom>
        </p:spPr>
      </p:pic>
    </p:spTree>
    <p:extLst>
      <p:ext uri="{BB962C8B-B14F-4D97-AF65-F5344CB8AC3E}">
        <p14:creationId xmlns:p14="http://schemas.microsoft.com/office/powerpoint/2010/main" val="1045362360"/>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D17F6-0F46-F992-B3CE-7ADABD9D20EF}"/>
              </a:ext>
            </a:extLst>
          </p:cNvPr>
          <p:cNvSpPr>
            <a:spLocks noGrp="1"/>
          </p:cNvSpPr>
          <p:nvPr>
            <p:ph type="title"/>
          </p:nvPr>
        </p:nvSpPr>
        <p:spPr>
          <a:xfrm>
            <a:off x="684212" y="205618"/>
            <a:ext cx="8534400" cy="1507067"/>
          </a:xfrm>
        </p:spPr>
        <p:txBody>
          <a:bodyPr/>
          <a:lstStyle/>
          <a:p>
            <a:r>
              <a:rPr lang="en-US"/>
              <a:t>PAYOUTS TABLE</a:t>
            </a:r>
          </a:p>
        </p:txBody>
      </p:sp>
      <p:pic>
        <p:nvPicPr>
          <p:cNvPr id="4" name="Content Placeholder 3">
            <a:extLst>
              <a:ext uri="{FF2B5EF4-FFF2-40B4-BE49-F238E27FC236}">
                <a16:creationId xmlns:a16="http://schemas.microsoft.com/office/drawing/2014/main" id="{011C78EC-083C-7AC0-1FE4-7407C4F0697E}"/>
              </a:ext>
            </a:extLst>
          </p:cNvPr>
          <p:cNvPicPr>
            <a:picLocks noGrp="1" noChangeAspect="1"/>
          </p:cNvPicPr>
          <p:nvPr>
            <p:ph idx="1"/>
          </p:nvPr>
        </p:nvPicPr>
        <p:blipFill>
          <a:blip r:embed="rId2"/>
          <a:stretch>
            <a:fillRect/>
          </a:stretch>
        </p:blipFill>
        <p:spPr>
          <a:xfrm>
            <a:off x="335644" y="1527629"/>
            <a:ext cx="11198222" cy="4994123"/>
          </a:xfrm>
          <a:prstGeom prst="rect">
            <a:avLst/>
          </a:prstGeom>
        </p:spPr>
      </p:pic>
    </p:spTree>
    <p:extLst>
      <p:ext uri="{BB962C8B-B14F-4D97-AF65-F5344CB8AC3E}">
        <p14:creationId xmlns:p14="http://schemas.microsoft.com/office/powerpoint/2010/main" val="425717210"/>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672A6-4935-364E-39DB-88F634FD30A8}"/>
              </a:ext>
            </a:extLst>
          </p:cNvPr>
          <p:cNvSpPr>
            <a:spLocks noGrp="1"/>
          </p:cNvSpPr>
          <p:nvPr>
            <p:ph type="title"/>
          </p:nvPr>
        </p:nvSpPr>
        <p:spPr>
          <a:xfrm>
            <a:off x="633412" y="517675"/>
            <a:ext cx="8534400" cy="1507067"/>
          </a:xfrm>
        </p:spPr>
        <p:txBody>
          <a:bodyPr/>
          <a:lstStyle/>
          <a:p>
            <a:r>
              <a:rPr lang="en-US"/>
              <a:t>PROCESSING TABLE</a:t>
            </a:r>
          </a:p>
        </p:txBody>
      </p:sp>
      <p:pic>
        <p:nvPicPr>
          <p:cNvPr id="4" name="Content Placeholder 3">
            <a:extLst>
              <a:ext uri="{FF2B5EF4-FFF2-40B4-BE49-F238E27FC236}">
                <a16:creationId xmlns:a16="http://schemas.microsoft.com/office/drawing/2014/main" id="{BA389226-E95A-C8F1-F89C-A4CE74D08875}"/>
              </a:ext>
            </a:extLst>
          </p:cNvPr>
          <p:cNvPicPr>
            <a:picLocks noGrp="1" noChangeAspect="1"/>
          </p:cNvPicPr>
          <p:nvPr>
            <p:ph idx="1"/>
          </p:nvPr>
        </p:nvPicPr>
        <p:blipFill>
          <a:blip r:embed="rId2"/>
          <a:stretch>
            <a:fillRect/>
          </a:stretch>
        </p:blipFill>
        <p:spPr>
          <a:xfrm>
            <a:off x="669474" y="1636485"/>
            <a:ext cx="11038564" cy="4957838"/>
          </a:xfrm>
          <a:prstGeom prst="rect">
            <a:avLst/>
          </a:prstGeom>
        </p:spPr>
      </p:pic>
    </p:spTree>
    <p:extLst>
      <p:ext uri="{BB962C8B-B14F-4D97-AF65-F5344CB8AC3E}">
        <p14:creationId xmlns:p14="http://schemas.microsoft.com/office/powerpoint/2010/main" val="214602969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90CC6-A403-AF84-150D-6FB76FA46B22}"/>
              </a:ext>
            </a:extLst>
          </p:cNvPr>
          <p:cNvSpPr>
            <a:spLocks noGrp="1"/>
          </p:cNvSpPr>
          <p:nvPr>
            <p:ph type="title"/>
          </p:nvPr>
        </p:nvSpPr>
        <p:spPr>
          <a:xfrm>
            <a:off x="684212" y="205618"/>
            <a:ext cx="8534400" cy="1507067"/>
          </a:xfrm>
        </p:spPr>
        <p:txBody>
          <a:bodyPr/>
          <a:lstStyle/>
          <a:p>
            <a:r>
              <a:rPr lang="en-US"/>
              <a:t>AUDIT_LOG TABLE</a:t>
            </a:r>
          </a:p>
        </p:txBody>
      </p:sp>
      <p:pic>
        <p:nvPicPr>
          <p:cNvPr id="4" name="Content Placeholder 3">
            <a:extLst>
              <a:ext uri="{FF2B5EF4-FFF2-40B4-BE49-F238E27FC236}">
                <a16:creationId xmlns:a16="http://schemas.microsoft.com/office/drawing/2014/main" id="{A707AE42-D17F-7C3E-8673-A9E33E218C87}"/>
              </a:ext>
            </a:extLst>
          </p:cNvPr>
          <p:cNvPicPr>
            <a:picLocks noGrp="1" noChangeAspect="1"/>
          </p:cNvPicPr>
          <p:nvPr>
            <p:ph idx="1"/>
          </p:nvPr>
        </p:nvPicPr>
        <p:blipFill>
          <a:blip r:embed="rId2"/>
          <a:stretch>
            <a:fillRect/>
          </a:stretch>
        </p:blipFill>
        <p:spPr>
          <a:xfrm>
            <a:off x="459016" y="1455057"/>
            <a:ext cx="11132907" cy="5110238"/>
          </a:xfrm>
          <a:prstGeom prst="rect">
            <a:avLst/>
          </a:prstGeom>
        </p:spPr>
      </p:pic>
    </p:spTree>
    <p:extLst>
      <p:ext uri="{BB962C8B-B14F-4D97-AF65-F5344CB8AC3E}">
        <p14:creationId xmlns:p14="http://schemas.microsoft.com/office/powerpoint/2010/main" val="307109061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3F6B0-CC2E-6B6C-89F0-4C15628D27AF}"/>
              </a:ext>
            </a:extLst>
          </p:cNvPr>
          <p:cNvSpPr>
            <a:spLocks noGrp="1"/>
          </p:cNvSpPr>
          <p:nvPr>
            <p:ph type="title"/>
          </p:nvPr>
        </p:nvSpPr>
        <p:spPr>
          <a:xfrm>
            <a:off x="1068841" y="205618"/>
            <a:ext cx="8534400" cy="1507067"/>
          </a:xfrm>
        </p:spPr>
        <p:txBody>
          <a:bodyPr/>
          <a:lstStyle/>
          <a:p>
            <a:r>
              <a:rPr lang="en-US" b="1">
                <a:ea typeface="+mj-lt"/>
                <a:cs typeface="+mj-lt"/>
              </a:rPr>
              <a:t>VERIFY both the Deliveries and Payouts tables:</a:t>
            </a:r>
          </a:p>
        </p:txBody>
      </p:sp>
      <p:pic>
        <p:nvPicPr>
          <p:cNvPr id="4" name="Content Placeholder 3">
            <a:extLst>
              <a:ext uri="{FF2B5EF4-FFF2-40B4-BE49-F238E27FC236}">
                <a16:creationId xmlns:a16="http://schemas.microsoft.com/office/drawing/2014/main" id="{6D5883BE-FF25-DD4E-BD1E-4594FFE28FE5}"/>
              </a:ext>
            </a:extLst>
          </p:cNvPr>
          <p:cNvPicPr>
            <a:picLocks noGrp="1" noChangeAspect="1"/>
          </p:cNvPicPr>
          <p:nvPr>
            <p:ph idx="1"/>
          </p:nvPr>
        </p:nvPicPr>
        <p:blipFill>
          <a:blip r:embed="rId2"/>
          <a:stretch>
            <a:fillRect/>
          </a:stretch>
        </p:blipFill>
        <p:spPr>
          <a:xfrm>
            <a:off x="306616" y="1672772"/>
            <a:ext cx="11568336" cy="4885266"/>
          </a:xfrm>
          <a:prstGeom prst="rect">
            <a:avLst/>
          </a:prstGeom>
        </p:spPr>
      </p:pic>
    </p:spTree>
    <p:extLst>
      <p:ext uri="{BB962C8B-B14F-4D97-AF65-F5344CB8AC3E}">
        <p14:creationId xmlns:p14="http://schemas.microsoft.com/office/powerpoint/2010/main" val="3873836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D50BE-5EC2-C0BA-F438-95966B991778}"/>
              </a:ext>
            </a:extLst>
          </p:cNvPr>
          <p:cNvSpPr>
            <a:spLocks noGrp="1"/>
          </p:cNvSpPr>
          <p:nvPr>
            <p:ph type="title"/>
          </p:nvPr>
        </p:nvSpPr>
        <p:spPr>
          <a:xfrm>
            <a:off x="684212" y="691846"/>
            <a:ext cx="8534400" cy="1507067"/>
          </a:xfrm>
        </p:spPr>
        <p:txBody>
          <a:bodyPr/>
          <a:lstStyle/>
          <a:p>
            <a:r>
              <a:rPr lang="en-US" b="1">
                <a:ea typeface="+mj-lt"/>
                <a:cs typeface="+mj-lt"/>
              </a:rPr>
              <a:t>prove that the trigger captured the change automatically</a:t>
            </a:r>
            <a:r>
              <a:rPr lang="en-US">
                <a:ea typeface="+mj-lt"/>
                <a:cs typeface="+mj-lt"/>
              </a:rPr>
              <a:t>:</a:t>
            </a:r>
            <a:endParaRPr lang="en-US"/>
          </a:p>
        </p:txBody>
      </p:sp>
      <p:pic>
        <p:nvPicPr>
          <p:cNvPr id="4" name="Content Placeholder 3">
            <a:extLst>
              <a:ext uri="{FF2B5EF4-FFF2-40B4-BE49-F238E27FC236}">
                <a16:creationId xmlns:a16="http://schemas.microsoft.com/office/drawing/2014/main" id="{4C9F1E8C-DDBB-8507-F84D-D76FD7918137}"/>
              </a:ext>
            </a:extLst>
          </p:cNvPr>
          <p:cNvPicPr>
            <a:picLocks noGrp="1" noChangeAspect="1"/>
          </p:cNvPicPr>
          <p:nvPr>
            <p:ph idx="1"/>
          </p:nvPr>
        </p:nvPicPr>
        <p:blipFill>
          <a:blip r:embed="rId2"/>
          <a:stretch>
            <a:fillRect/>
          </a:stretch>
        </p:blipFill>
        <p:spPr>
          <a:xfrm>
            <a:off x="669472" y="1941287"/>
            <a:ext cx="10828108" cy="4645779"/>
          </a:xfrm>
          <a:prstGeom prst="rect">
            <a:avLst/>
          </a:prstGeom>
        </p:spPr>
      </p:pic>
    </p:spTree>
    <p:extLst>
      <p:ext uri="{BB962C8B-B14F-4D97-AF65-F5344CB8AC3E}">
        <p14:creationId xmlns:p14="http://schemas.microsoft.com/office/powerpoint/2010/main" val="4168378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5DC2F-7A2A-E3A4-51DC-6041BA14906D}"/>
              </a:ext>
            </a:extLst>
          </p:cNvPr>
          <p:cNvSpPr>
            <a:spLocks noGrp="1"/>
          </p:cNvSpPr>
          <p:nvPr>
            <p:ph type="title"/>
          </p:nvPr>
        </p:nvSpPr>
        <p:spPr>
          <a:xfrm>
            <a:off x="684212" y="205618"/>
            <a:ext cx="8534400" cy="1507067"/>
          </a:xfrm>
        </p:spPr>
        <p:txBody>
          <a:bodyPr>
            <a:normAutofit/>
          </a:bodyPr>
          <a:lstStyle/>
          <a:p>
            <a:r>
              <a:rPr lang="en-US" b="1" dirty="0"/>
              <a:t>Check package body and package </a:t>
            </a:r>
            <a:r>
              <a:rPr lang="en-US" b="1"/>
              <a:t>object:</a:t>
            </a:r>
          </a:p>
        </p:txBody>
      </p:sp>
      <p:pic>
        <p:nvPicPr>
          <p:cNvPr id="4" name="Content Placeholder 3">
            <a:extLst>
              <a:ext uri="{FF2B5EF4-FFF2-40B4-BE49-F238E27FC236}">
                <a16:creationId xmlns:a16="http://schemas.microsoft.com/office/drawing/2014/main" id="{67077EF0-324D-FEB7-6141-22D2AA30511A}"/>
              </a:ext>
            </a:extLst>
          </p:cNvPr>
          <p:cNvPicPr>
            <a:picLocks noGrp="1" noChangeAspect="1"/>
          </p:cNvPicPr>
          <p:nvPr>
            <p:ph idx="1"/>
          </p:nvPr>
        </p:nvPicPr>
        <p:blipFill>
          <a:blip r:embed="rId2"/>
          <a:stretch>
            <a:fillRect/>
          </a:stretch>
        </p:blipFill>
        <p:spPr>
          <a:xfrm>
            <a:off x="270330" y="1636485"/>
            <a:ext cx="11096622" cy="4899781"/>
          </a:xfrm>
          <a:prstGeom prst="rect">
            <a:avLst/>
          </a:prstGeom>
        </p:spPr>
      </p:pic>
    </p:spTree>
    <p:extLst>
      <p:ext uri="{BB962C8B-B14F-4D97-AF65-F5344CB8AC3E}">
        <p14:creationId xmlns:p14="http://schemas.microsoft.com/office/powerpoint/2010/main" val="4143350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25F9B-5FDD-646B-8984-1E891E923640}"/>
              </a:ext>
            </a:extLst>
          </p:cNvPr>
          <p:cNvSpPr>
            <a:spLocks noGrp="1"/>
          </p:cNvSpPr>
          <p:nvPr>
            <p:ph type="title"/>
          </p:nvPr>
        </p:nvSpPr>
        <p:spPr>
          <a:xfrm>
            <a:off x="626155" y="590247"/>
            <a:ext cx="8534400" cy="1507067"/>
          </a:xfrm>
        </p:spPr>
        <p:txBody>
          <a:bodyPr>
            <a:normAutofit/>
          </a:bodyPr>
          <a:lstStyle/>
          <a:p>
            <a:r>
              <a:rPr lang="en-US" sz="4800" b="1">
                <a:ea typeface="+mj-lt"/>
                <a:cs typeface="+mj-lt"/>
              </a:rPr>
              <a:t>Project Conclusion:</a:t>
            </a:r>
          </a:p>
        </p:txBody>
      </p:sp>
      <p:sp>
        <p:nvSpPr>
          <p:cNvPr id="3" name="Content Placeholder 2">
            <a:extLst>
              <a:ext uri="{FF2B5EF4-FFF2-40B4-BE49-F238E27FC236}">
                <a16:creationId xmlns:a16="http://schemas.microsoft.com/office/drawing/2014/main" id="{62755608-E144-EBD0-5EE0-5C129C67E8DA}"/>
              </a:ext>
            </a:extLst>
          </p:cNvPr>
          <p:cNvSpPr>
            <a:spLocks noGrp="1"/>
          </p:cNvSpPr>
          <p:nvPr>
            <p:ph idx="1"/>
          </p:nvPr>
        </p:nvSpPr>
        <p:spPr>
          <a:xfrm>
            <a:off x="981755" y="2652486"/>
            <a:ext cx="8534400" cy="3803952"/>
          </a:xfrm>
        </p:spPr>
        <p:txBody>
          <a:bodyPr vert="horz" lIns="91440" tIns="45720" rIns="91440" bIns="45720" rtlCol="0" anchor="ctr">
            <a:noAutofit/>
          </a:bodyPr>
          <a:lstStyle/>
          <a:p>
            <a:pPr marL="0" indent="0">
              <a:buNone/>
            </a:pPr>
            <a:r>
              <a:rPr lang="en-US" sz="2800" b="1">
                <a:ea typeface="+mn-lt"/>
                <a:cs typeface="+mn-lt"/>
              </a:rPr>
              <a:t>This capstone project showcases the practical application of advanced Oracle SQL and PL/SQL concepts to solve a real-world, high-impact problem. The system is not only technically sound and highly performant but is also built with the security, auditability, and scalability required to support the local coffee farmers and washing stations driving Rwanda's agricultural economy.</a:t>
            </a:r>
            <a:r>
              <a:rPr lang="en-US" sz="2400" dirty="0">
                <a:ea typeface="+mn-lt"/>
                <a:cs typeface="+mn-lt"/>
              </a:rPr>
              <a:t>  </a:t>
            </a:r>
            <a:endParaRPr lang="en-US" dirty="0">
              <a:ea typeface="+mn-lt"/>
              <a:cs typeface="+mn-lt"/>
            </a:endParaRPr>
          </a:p>
        </p:txBody>
      </p:sp>
    </p:spTree>
    <p:extLst>
      <p:ext uri="{BB962C8B-B14F-4D97-AF65-F5344CB8AC3E}">
        <p14:creationId xmlns:p14="http://schemas.microsoft.com/office/powerpoint/2010/main" val="19942093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Slice">
  <a:themeElements>
    <a:clrScheme name="Slice">
      <a:dk1>
        <a:sysClr val="windowText" lastClr="000000"/>
      </a:dk1>
      <a:lt1>
        <a:sysClr val="window" lastClr="FFFFFF"/>
      </a:lt1>
      <a:dk2>
        <a:srgbClr val="AD2E03"/>
      </a:dk2>
      <a:lt2>
        <a:srgbClr val="D75626"/>
      </a:lt2>
      <a:accent1>
        <a:srgbClr val="760603"/>
      </a:accent1>
      <a:accent2>
        <a:srgbClr val="FA9C1F"/>
      </a:accent2>
      <a:accent3>
        <a:srgbClr val="D9BB55"/>
      </a:accent3>
      <a:accent4>
        <a:srgbClr val="829551"/>
      </a:accent4>
      <a:accent5>
        <a:srgbClr val="58A28B"/>
      </a:accent5>
      <a:accent6>
        <a:srgbClr val="426480"/>
      </a:accent6>
      <a:hlink>
        <a:srgbClr val="460402"/>
      </a:hlink>
      <a:folHlink>
        <a:srgbClr val="991111"/>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142000"/>
                <a:satMod val="200000"/>
                <a:lumMod val="118000"/>
              </a:schemeClr>
            </a:gs>
            <a:gs pos="100000">
              <a:schemeClr val="phClr">
                <a:shade val="94000"/>
                <a:hueMod val="22000"/>
                <a:satMod val="220000"/>
                <a:lumMod val="62000"/>
              </a:schemeClr>
            </a:gs>
          </a:gsLst>
          <a:lin ang="6120000" scaled="1"/>
        </a:gradFill>
        <a:gradFill rotWithShape="1">
          <a:gsLst>
            <a:gs pos="0">
              <a:schemeClr val="phClr">
                <a:tint val="97000"/>
                <a:hueMod val="142000"/>
                <a:satMod val="200000"/>
                <a:lumMod val="118000"/>
              </a:schemeClr>
            </a:gs>
            <a:gs pos="100000">
              <a:schemeClr val="phClr">
                <a:shade val="92000"/>
                <a:hueMod val="22000"/>
                <a:satMod val="220000"/>
                <a:lumMod val="62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2903AAAE-3EA5-424A-B142-CC51DC1F897D}"/>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Slice</vt:lpstr>
      <vt:lpstr>Project title: Smart Coffee cooperative management system.</vt:lpstr>
      <vt:lpstr>Problem Definition &amp; Context of Use.</vt:lpstr>
      <vt:lpstr>Target Users:</vt:lpstr>
      <vt:lpstr>Project Objectives:</vt:lpstr>
      <vt:lpstr>Business Process Modeling (MIS):</vt:lpstr>
      <vt:lpstr>Table creation: FARMER TABLE</vt:lpstr>
      <vt:lpstr>BATCHES TABLE</vt:lpstr>
      <vt:lpstr>PUBLIC_HOLIDAY TABLE</vt:lpstr>
      <vt:lpstr>Deliveries table</vt:lpstr>
      <vt:lpstr>PAYOUTS TABLE</vt:lpstr>
      <vt:lpstr>PROCESSING TABLE</vt:lpstr>
      <vt:lpstr>AUDIT_LOG TABLE</vt:lpstr>
      <vt:lpstr>VERIFY both the Deliveries and Payouts tables:</vt:lpstr>
      <vt:lpstr>prove that the trigger captured the change automatically:</vt:lpstr>
      <vt:lpstr>Check package body and package object:</vt:lpstr>
      <vt:lpstr>Project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324</cp:revision>
  <dcterms:created xsi:type="dcterms:W3CDTF">2026-07-14T23:15:38Z</dcterms:created>
  <dcterms:modified xsi:type="dcterms:W3CDTF">2026-07-15T01:46:27Z</dcterms:modified>
</cp:coreProperties>
</file>